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7" r:id="rId11"/>
    <p:sldId id="264" r:id="rId12"/>
    <p:sldId id="263" r:id="rId13"/>
    <p:sldId id="265" r:id="rId14"/>
    <p:sldId id="266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614228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1483634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0587856" name="Google Shape;81;p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</a:p>
        </p:txBody>
      </p:sp>
      <p:sp>
        <p:nvSpPr>
          <p:cNvPr id="878367624" name="Google Shape;82;p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6538114" name="Google Shape;91;p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</a:p>
        </p:txBody>
      </p:sp>
      <p:sp>
        <p:nvSpPr>
          <p:cNvPr id="582206961" name="Google Shape;92;p2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720329" name="Google Shape;97;p3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</a:p>
        </p:txBody>
      </p:sp>
      <p:sp>
        <p:nvSpPr>
          <p:cNvPr id="691398205" name="Google Shape;98;p3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7348238" name="Google Shape;117;p6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</a:p>
        </p:txBody>
      </p:sp>
      <p:sp>
        <p:nvSpPr>
          <p:cNvPr id="358930301" name="Google Shape;118;p6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7C814A-411F-1649-D7CD-237CC972F88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7308727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14371070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13930848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98B2F10-9783-7968-B447-A952AB1FC4D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1604209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5254790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84375333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676803-44A6-B0D3-30DE-04740D690B4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4761405" name="Google Shape;131;p8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</a:p>
        </p:txBody>
      </p:sp>
      <p:sp>
        <p:nvSpPr>
          <p:cNvPr id="1412271947" name="Google Shape;132;p8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5351716" name="Google Shape;124;g16432b3a3c0_0_0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</a:p>
        </p:txBody>
      </p:sp>
      <p:sp>
        <p:nvSpPr>
          <p:cNvPr id="913058761" name="Google Shape;125;g16432b3a3c0_0_0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12059126" name="Google Shape;137;p11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</a:p>
        </p:txBody>
      </p:sp>
      <p:sp>
        <p:nvSpPr>
          <p:cNvPr id="2143046941" name="Google Shape;138;p11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520127" name="Google Shape;143;p12:notes"/>
          <p:cNvSpPr txBox="1">
            <a:spLocks noGrp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</a:p>
        </p:txBody>
      </p:sp>
      <p:sp>
        <p:nvSpPr>
          <p:cNvPr id="1288833335" name="Google Shape;144;p12:notes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PhAnim="0" userDrawn="1" matchingName="Title Slide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266387" name="Google Shape;12;p14"/>
          <p:cNvSpPr txBox="1"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971565779" name="Google Shape;13;p14"/>
          <p:cNvSpPr txBox="1"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pPr>
              <a:defRPr/>
            </a:pPr>
          </a:p>
        </p:txBody>
      </p:sp>
      <p:sp>
        <p:nvSpPr>
          <p:cNvPr id="705229460" name="Google Shape;14;p1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379310486" name="Google Shape;15;p1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59578030" name="Google Shape;16;p1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showMasterPhAnim="0" userDrawn="1" matchingName="Title and Content">
  <p:cSld name="OBJEC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4471421" name="Google Shape;18;p15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817034297" name="Google Shape;19;p15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285511587" name="Google Shape;20;p15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855503826" name="Google Shape;21;p15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2079937085" name="Google Shape;22;p15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PhAnim="0" userDrawn="1" matchingName="Section Header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3155113" name="Google Shape;24;p16"/>
          <p:cNvSpPr txBox="1"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204369607" name="Google Shape;25;p16"/>
          <p:cNvSpPr txBox="1"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pPr>
              <a:defRPr/>
            </a:pPr>
          </a:p>
        </p:txBody>
      </p:sp>
      <p:sp>
        <p:nvSpPr>
          <p:cNvPr id="2062162366" name="Google Shape;26;p16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5577634" name="Google Shape;27;p16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443921367" name="Google Shape;28;p16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showMasterPhAnim="0" userDrawn="1" matchingName="Two Content">
  <p:cSld name="TWO_OBJECT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4236331" name="Google Shape;30;p17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296847877" name="Google Shape;31;p17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928461798" name="Google Shape;32;p17"/>
          <p:cNvSpPr txBox="1">
            <a:spLocks noGrp="1"/>
          </p:cNvSpPr>
          <p:nvPr>
            <p:ph type="body" idx="2"/>
          </p:nvPr>
        </p:nvSpPr>
        <p:spPr bwMode="auto"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2016261623" name="Google Shape;33;p17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854858634" name="Google Shape;34;p17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454208480" name="Google Shape;35;p17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showMasterPhAnim="0" userDrawn="1" matchingName="Comparison">
  <p:cSld name="TWO_OBJECTS_WITH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9415986" name="Google Shape;37;p18"/>
          <p:cNvSpPr txBox="1"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0087946" name="Google Shape;38;p18"/>
          <p:cNvSpPr txBox="1"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</a:p>
        </p:txBody>
      </p:sp>
      <p:sp>
        <p:nvSpPr>
          <p:cNvPr id="1683675955" name="Google Shape;39;p18"/>
          <p:cNvSpPr txBox="1">
            <a:spLocks noGrp="1"/>
          </p:cNvSpPr>
          <p:nvPr>
            <p:ph type="body" idx="2"/>
          </p:nvPr>
        </p:nvSpPr>
        <p:spPr bwMode="auto"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302832577" name="Google Shape;40;p18"/>
          <p:cNvSpPr txBox="1">
            <a:spLocks noGrp="1"/>
          </p:cNvSpPr>
          <p:nvPr>
            <p:ph type="body" idx="3"/>
          </p:nvPr>
        </p:nvSpPr>
        <p:spPr bwMode="auto"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pPr>
              <a:defRPr/>
            </a:pPr>
          </a:p>
        </p:txBody>
      </p:sp>
      <p:sp>
        <p:nvSpPr>
          <p:cNvPr id="1419387100" name="Google Shape;41;p18"/>
          <p:cNvSpPr txBox="1">
            <a:spLocks noGrp="1"/>
          </p:cNvSpPr>
          <p:nvPr>
            <p:ph type="body" idx="4"/>
          </p:nvPr>
        </p:nvSpPr>
        <p:spPr bwMode="auto"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1350001416" name="Google Shape;42;p18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971882894" name="Google Shape;43;p18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702463409" name="Google Shape;44;p18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showMasterPhAnim="0" userDrawn="1" matchingName="Title Only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2337011" name="Google Shape;46;p19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746698074" name="Google Shape;47;p19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414431307" name="Google Shape;48;p19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631772120" name="Google Shape;49;p19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showMasterPhAnim="0" userDrawn="1" matchingName="Blank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2213483" name="Google Shape;51;p20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72669598" name="Google Shape;52;p20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586534786" name="Google Shape;53;p20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showMasterPhAnim="0" userDrawn="1" matchingName="Content with Caption">
  <p:cSld name="OBJECT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29035" name="Google Shape;55;p21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989036778" name="Google Shape;56;p21"/>
          <p:cNvSpPr txBox="1">
            <a:spLocks noGrp="1"/>
          </p:cNvSpPr>
          <p:nvPr>
            <p:ph type="body" idx="1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pPr>
              <a:defRPr/>
            </a:pPr>
          </a:p>
        </p:txBody>
      </p:sp>
      <p:sp>
        <p:nvSpPr>
          <p:cNvPr id="1822345676" name="Google Shape;57;p21"/>
          <p:cNvSpPr txBox="1">
            <a:spLocks noGrp="1"/>
          </p:cNvSpPr>
          <p:nvPr>
            <p:ph type="body" idx="2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</a:p>
        </p:txBody>
      </p:sp>
      <p:sp>
        <p:nvSpPr>
          <p:cNvPr id="611241363" name="Google Shape;58;p21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430185084" name="Google Shape;59;p21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427721538" name="Google Shape;60;p21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showMasterPhAnim="0" userDrawn="1" matchingName="Picture with Caption">
  <p:cSld name="PICTURE_WITH_CAPTIO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073255" name="Google Shape;62;p22"/>
          <p:cNvSpPr txBox="1"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256319752" name="Google Shape;63;p22"/>
          <p:cNvSpPr>
            <a:spLocks noGrp="1"/>
          </p:cNvSpPr>
          <p:nvPr>
            <p:ph type="pic" idx="2"/>
          </p:nvPr>
        </p:nvSpPr>
        <p:spPr bwMode="auto"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43268306" name="Google Shape;64;p22"/>
          <p:cNvSpPr txBox="1">
            <a:spLocks noGrp="1"/>
          </p:cNvSpPr>
          <p:nvPr>
            <p:ph type="body" idx="1"/>
          </p:nvPr>
        </p:nvSpPr>
        <p:spPr bwMode="auto"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pPr>
              <a:defRPr/>
            </a:pPr>
          </a:p>
        </p:txBody>
      </p:sp>
      <p:sp>
        <p:nvSpPr>
          <p:cNvPr id="1763683335" name="Google Shape;65;p22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705801629" name="Google Shape;66;p22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735102763" name="Google Shape;67;p22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showMasterPhAnim="0" userDrawn="1" matchingName="Title and Vertical Text">
  <p:cSld name="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4732367" name="Google Shape;69;p2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923473099" name="Google Shape;70;p23"/>
          <p:cNvSpPr txBox="1">
            <a:spLocks noGrp="1"/>
          </p:cNvSpPr>
          <p:nvPr>
            <p:ph type="body" idx="1"/>
          </p:nvPr>
        </p:nvSpPr>
        <p:spPr bwMode="auto"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989439369" name="Google Shape;71;p2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635173378" name="Google Shape;72;p2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266738335" name="Google Shape;73;p2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showMasterPhAnim="0" userDrawn="1" matchingName="Vertical Title and Text">
  <p:cSld name="VERTICAL_TITLE_AND_VERTICAL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2035982" name="Google Shape;75;p24"/>
          <p:cNvSpPr txBox="1">
            <a:spLocks noGrp="1"/>
          </p:cNvSpPr>
          <p:nvPr>
            <p:ph type="title"/>
          </p:nvPr>
        </p:nvSpPr>
        <p:spPr bwMode="auto"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874317306" name="Google Shape;76;p24"/>
          <p:cNvSpPr txBox="1">
            <a:spLocks noGrp="1"/>
          </p:cNvSpPr>
          <p:nvPr>
            <p:ph type="body" idx="1"/>
          </p:nvPr>
        </p:nvSpPr>
        <p:spPr bwMode="auto"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</a:p>
        </p:txBody>
      </p:sp>
      <p:sp>
        <p:nvSpPr>
          <p:cNvPr id="2035142831" name="Google Shape;77;p24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862464222" name="Google Shape;78;p24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</a:p>
        </p:txBody>
      </p:sp>
      <p:sp>
        <p:nvSpPr>
          <p:cNvPr id="1263003884" name="Google Shape;79;p24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1202114" name="Google Shape;6;p1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</a:p>
        </p:txBody>
      </p:sp>
      <p:sp>
        <p:nvSpPr>
          <p:cNvPr id="331742735" name="Google Shape;7;p1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defRPr/>
            </a:pPr>
          </a:p>
        </p:txBody>
      </p:sp>
      <p:sp>
        <p:nvSpPr>
          <p:cNvPr id="1834814975" name="Google Shape;8;p13"/>
          <p:cNvSpPr txBox="1">
            <a:spLocks noGrp="1"/>
          </p:cNvSpPr>
          <p:nvPr>
            <p:ph type="dt" idx="10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defRPr/>
            </a:pPr>
          </a:p>
        </p:txBody>
      </p:sp>
      <p:sp>
        <p:nvSpPr>
          <p:cNvPr id="12975575" name="Google Shape;9;p13"/>
          <p:cNvSpPr txBox="1">
            <a:spLocks noGrp="1"/>
          </p:cNvSpPr>
          <p:nvPr>
            <p:ph type="ftr" idx="11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>
              <a:defRPr/>
            </a:pPr>
          </a:p>
        </p:txBody>
      </p:sp>
      <p:sp>
        <p:nvSpPr>
          <p:cNvPr id="1534667142" name="Google Shape;10;p13"/>
          <p:cNvSpPr txBox="1">
            <a:spLocks noGrp="1"/>
          </p:cNvSpPr>
          <p:nvPr>
            <p:ph type="sldNum" idx="12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s://components101.com/wireless/hc-05-bluetooth-module" TargetMode="External"/><Relationship Id="rId3" Type="http://schemas.openxmlformats.org/officeDocument/2006/relationships/hyperlink" Target="https://components101.com/modules/l298n-motor-driver-module" TargetMode="External"/><Relationship Id="rId2" Type="http://schemas.openxmlformats.org/officeDocument/2006/relationships/hyperlink" Target="https://components101.com/" TargetMode="External"/><Relationship Id="rId1" Type="http://schemas.openxmlformats.org/officeDocument/2006/relationships/hyperlink" Target="https://www.arduino.cc/en/Main/ArduinoBoardUno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2993645" name="Google Shape;84;p1"/>
          <p:cNvSpPr txBox="1">
            <a:spLocks noGrp="1"/>
          </p:cNvSpPr>
          <p:nvPr>
            <p:ph type="subTitle" idx="1"/>
          </p:nvPr>
        </p:nvSpPr>
        <p:spPr bwMode="auto">
          <a:xfrm>
            <a:off x="6980350" y="4443102"/>
            <a:ext cx="4932608" cy="2201985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 fontScale="90000" lnSpcReduction="2000"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Students Name: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Palkrutwar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Onkar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Ravikiran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350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en-US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MD. </a:t>
            </a: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Rehan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MD. </a:t>
            </a: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Gous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357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Surywanshi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Shubham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Satish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371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dirty="0"/>
          </a:p>
          <a:p>
            <a:pPr marL="0" lvl="0" indent="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pP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Hage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Prem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lang="en-US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Dnyaneshwar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lang="en-US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376</a:t>
            </a:r>
            <a:r>
              <a:rPr lang="en-IN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dirty="0"/>
          </a:p>
        </p:txBody>
      </p:sp>
      <p:sp>
        <p:nvSpPr>
          <p:cNvPr id="1865228464" name="Google Shape;85;p1"/>
          <p:cNvSpPr txBox="1"/>
          <p:nvPr/>
        </p:nvSpPr>
        <p:spPr bwMode="auto">
          <a:xfrm>
            <a:off x="703485" y="2208508"/>
            <a:ext cx="10740900" cy="1075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3200" b="0" i="0" u="sng" strike="noStrike" cap="none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Presentation for </a:t>
            </a:r>
            <a:r>
              <a:rPr lang="en-IN" sz="3200" u="sng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</a:t>
            </a:r>
            <a:r>
              <a:rPr lang="en-IN" sz="3200" b="0" i="0" u="sng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 Project </a:t>
            </a:r>
            <a:r>
              <a:rPr lang="en-US" altLang="en-IN" sz="3200" b="0" i="0" u="sng" strike="noStrike" cap="none" dirty="0" smtClean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Implementation</a:t>
            </a:r>
            <a:endParaRPr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3200" u="sng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AY 202</a:t>
            </a:r>
            <a:r>
              <a:rPr lang="en-US" sz="3200" u="sng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5</a:t>
            </a:r>
            <a:r>
              <a:rPr lang="en-IN" sz="3200" u="sng" dirty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-2</a:t>
            </a:r>
            <a:r>
              <a:rPr lang="en-US" sz="3200" u="sng" dirty="0" smtClean="0">
                <a:solidFill>
                  <a:schemeClr val="dk1"/>
                </a:solidFill>
                <a:latin typeface="Times New Roman" panose="02020603050405020304"/>
                <a:ea typeface="Calibri" panose="020F0502020204030204"/>
                <a:cs typeface="Times New Roman" panose="02020603050405020304"/>
              </a:rPr>
              <a:t>6</a:t>
            </a:r>
            <a:endParaRPr lang="en-US" sz="3200" b="0" i="0" u="sng" strike="noStrike" cap="none" dirty="0">
              <a:solidFill>
                <a:schemeClr val="dk1"/>
              </a:solidFill>
              <a:latin typeface="Times New Roman" panose="02020603050405020304"/>
              <a:ea typeface="Calibri" panose="020F0502020204030204"/>
              <a:cs typeface="Times New Roman" panose="02020603050405020304"/>
            </a:endParaRPr>
          </a:p>
        </p:txBody>
      </p:sp>
      <p:pic>
        <p:nvPicPr>
          <p:cNvPr id="1186074371" name="Google Shape;86;p1" descr="Image result for mit academy of engineering logo"/>
          <p:cNvPicPr/>
          <p:nvPr/>
        </p:nvPicPr>
        <p:blipFill>
          <a:blip r:embed="rId1"/>
          <a:stretch>
            <a:fillRect/>
          </a:stretch>
        </p:blipFill>
        <p:spPr bwMode="auto">
          <a:xfrm>
            <a:off x="3827383" y="200565"/>
            <a:ext cx="4914900" cy="9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709322232" name="Google Shape;87;p1"/>
          <p:cNvSpPr txBox="1"/>
          <p:nvPr/>
        </p:nvSpPr>
        <p:spPr bwMode="auto">
          <a:xfrm>
            <a:off x="3634908" y="1347163"/>
            <a:ext cx="5299849" cy="5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IN" sz="2800" b="0" i="0" u="none" strike="noStrike" cap="none">
                <a:solidFill>
                  <a:srgbClr val="2F549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School </a:t>
            </a:r>
            <a:r>
              <a:rPr lang="en-US" sz="2800" b="0" i="0" u="none" strike="noStrike" cap="none">
                <a:solidFill>
                  <a:srgbClr val="2F549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of Computer </a:t>
            </a:r>
            <a:r>
              <a:rPr lang="en-IN" sz="2800" b="0" i="0" u="none" strike="noStrike" cap="none">
                <a:solidFill>
                  <a:srgbClr val="2F5496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Engineering</a:t>
            </a:r>
            <a:endParaRPr lang="en-IN" sz="2800" b="0" i="0" u="none" strike="noStrike" cap="none">
              <a:solidFill>
                <a:srgbClr val="2F5496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6755106" name="Google Shape;88;p1"/>
          <p:cNvSpPr txBox="1"/>
          <p:nvPr/>
        </p:nvSpPr>
        <p:spPr bwMode="auto">
          <a:xfrm>
            <a:off x="574695" y="5178065"/>
            <a:ext cx="2814593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/>
            </a:pPr>
            <a:r>
              <a:rPr lang="en-IN" sz="2400" b="0" u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Guide:</a:t>
            </a:r>
            <a:endParaRPr lang="en-IN" sz="2400" b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/>
            </a:pPr>
            <a:r>
              <a:rPr lang="en-IN" sz="2400" b="0" i="0" u="none" strike="noStrike" cap="none" spc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</a:t>
            </a:r>
            <a:r>
              <a:rPr lang="en-US" altLang="en-IN" sz="2400" b="0" i="0" u="none" strike="noStrike" cap="none" spc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</a:t>
            </a:r>
            <a:r>
              <a:rPr lang="en-IN" sz="2400" b="0" i="0" u="none" strike="noStrike" cap="none" spc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s. Rohini Banait</a:t>
            </a:r>
            <a:endParaRPr sz="2400" b="0" u="none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92604864" name="Google Shape;89;p1"/>
          <p:cNvSpPr txBox="1"/>
          <p:nvPr/>
        </p:nvSpPr>
        <p:spPr bwMode="auto">
          <a:xfrm>
            <a:off x="1826221" y="3223311"/>
            <a:ext cx="7969281" cy="14439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defRPr/>
            </a:pPr>
            <a:r>
              <a:rPr lang="en-IN" sz="4400" b="1" dirty="0" err="1" smtClean="0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IoT</a:t>
            </a:r>
            <a:r>
              <a:rPr lang="en-IN" sz="4400" b="1" dirty="0" smtClean="0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-Integrated </a:t>
            </a:r>
            <a:r>
              <a:rPr lang="en-IN" sz="4400" b="1" dirty="0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Smart Rover</a:t>
            </a:r>
            <a:r>
              <a:rPr lang="en-US" altLang="en-IN" sz="4400" b="1" dirty="0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With Live Survillence</a:t>
            </a:r>
            <a:endParaRPr lang="en-US" altLang="en-IN" sz="4400" b="1" dirty="0">
              <a:solidFill>
                <a:srgbClr val="C55A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2920680" name="Google Shape;94;p2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 panose="02020603050405020304"/>
              <a:buNone/>
              <a:defRPr/>
            </a:pPr>
            <a:r>
              <a:rPr lang="en-IN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Index</a:t>
            </a:r>
            <a:endParaRPr lang="en-IN" b="1">
              <a:solidFill>
                <a:srgbClr val="C55A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852543071" name="Google Shape;95;p2"/>
          <p:cNvSpPr txBox="1">
            <a:spLocks noGrp="1"/>
          </p:cNvSpPr>
          <p:nvPr>
            <p:ph type="body" idx="1"/>
          </p:nvPr>
        </p:nvSpPr>
        <p:spPr bwMode="auto">
          <a:xfrm>
            <a:off x="838200" y="1399308"/>
            <a:ext cx="10515600" cy="5250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Introduction</a:t>
            </a:r>
            <a:r>
              <a:rPr lang="en-IN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Problem Statement 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Literature Survey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Objectives and Scope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Applications</a:t>
            </a:r>
            <a:endParaRPr lang="en-IN" b="1" dirty="0" smtClean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sz="2800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Algorithm</a:t>
            </a:r>
            <a:endParaRPr lang="en-IN" sz="2800" b="1" dirty="0" smtClean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b="1" dirty="0" smtClean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Design / Architecture Block Diagram</a:t>
            </a:r>
            <a:endParaRPr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Software/Hardware Requirement</a:t>
            </a:r>
            <a:endParaRPr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/>
            </a:pPr>
            <a:r>
              <a:rPr lang="en-IN" sz="2800" b="1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References</a:t>
            </a:r>
            <a:endParaRPr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/>
            </a:pPr>
            <a:endParaRPr sz="28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6539336" name="Google Shape;100;p3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 panose="02020603050405020304"/>
              <a:buNone/>
              <a:defRPr/>
            </a:pPr>
            <a:r>
              <a:rPr lang="en-IN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Introduction</a:t>
            </a:r>
            <a:endParaRPr lang="en-IN" b="1">
              <a:solidFill>
                <a:srgbClr val="C55A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121165402" name="Google Shape;102;p3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/>
          </a:bodyPr>
          <a:lstStyle/>
          <a:p>
            <a:pPr>
              <a:defRPr/>
            </a:pPr>
            <a:r>
              <a:rPr lang="en-US" sz="2100" b="0" i="0" u="none" strike="noStrike" cap="none" spc="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project involves developing an </a:t>
            </a:r>
            <a:r>
              <a:rPr lang="en-US" sz="2100" b="0" i="0" u="none" strike="noStrike" cap="none" spc="0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Arduino</a:t>
            </a:r>
            <a:r>
              <a:rPr lang="en-US" sz="2100" b="0" i="0" u="none" strike="noStrike" cap="none" spc="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-controlled car with four main functions: line following, obstacle avoidance, Bluetooth manual control, and live video surveillance via ESP32-CAM.</a:t>
            </a:r>
            <a:endParaRPr sz="2100" b="0" i="0" u="none" strike="noStrike" cap="none" spc="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100" b="0" i="0" u="none" strike="noStrike" cap="none" spc="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Using IR and ultrasonic sensors, the car navigates autonomously; the HC-05 Bluetooth module enables remote control; and the ESP32-CAM streams live video over Wi-Fi to any browser.</a:t>
            </a:r>
            <a:endParaRPr sz="2100" b="0" i="0" u="none" strike="noStrike" cap="none" spc="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</a:endParaRPr>
          </a:p>
          <a:p>
            <a:pPr>
              <a:defRPr/>
            </a:pPr>
            <a:r>
              <a:rPr lang="en-US" sz="2100" b="0" i="0" u="none" strike="noStrike" cap="none" spc="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The Arduino UNO serves as the main controller, managing sensors and motor operations through a motor driver.</a:t>
            </a:r>
            <a:endParaRPr sz="2100" b="0" i="0" u="none" strike="noStrike" cap="none" spc="0" dirty="0">
              <a:solidFill>
                <a:schemeClr val="dk1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114300" indent="0">
              <a:buClr>
                <a:schemeClr val="dk1"/>
              </a:buClr>
              <a:buSzPts val="1800"/>
              <a:buFont typeface="Arial" panose="020B0604020202020204"/>
              <a:buNone/>
              <a:defRPr/>
            </a:pPr>
            <a:r>
              <a:rPr lang="en-US" sz="2100" b="0" i="0" u="none" strike="noStrike" cap="none" spc="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This project demonstrates embedded system integration, automation, and robotics control, with potential applications in surveillance, delivery, and education.</a:t>
            </a:r>
            <a:endParaRPr dirty="0"/>
          </a:p>
        </p:txBody>
      </p:sp>
      <p:sp>
        <p:nvSpPr>
          <p:cNvPr id="627851558" name="Google Shape;103;p3"/>
          <p:cNvSpPr txBox="1"/>
          <p:nvPr/>
        </p:nvSpPr>
        <p:spPr bwMode="auto">
          <a:xfrm>
            <a:off x="6642340" y="5001266"/>
            <a:ext cx="5761987" cy="7768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/>
              <a:buNone/>
              <a:defRPr/>
            </a:pPr>
            <a:endParaRPr sz="2800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9133548" name="Google Shape;120;p6"/>
          <p:cNvSpPr txBox="1">
            <a:spLocks noGrp="1"/>
          </p:cNvSpPr>
          <p:nvPr>
            <p:ph type="title"/>
          </p:nvPr>
        </p:nvSpPr>
        <p:spPr bwMode="auto">
          <a:xfrm>
            <a:off x="838200" y="8179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 panose="02020603050405020304"/>
              <a:buNone/>
              <a:defRPr/>
            </a:pPr>
            <a:r>
              <a:rPr lang="en-IN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Problem statement</a:t>
            </a: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56309292" name="Google Shape;121;p6"/>
          <p:cNvSpPr txBox="1">
            <a:spLocks noGrp="1"/>
          </p:cNvSpPr>
          <p:nvPr>
            <p:ph type="body" idx="1"/>
          </p:nvPr>
        </p:nvSpPr>
        <p:spPr bwMode="auto">
          <a:xfrm>
            <a:off x="838200" y="1650721"/>
            <a:ext cx="10515600" cy="3390319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2" tIns="45698" rIns="91422" bIns="45698" numCol="1" spcCol="0" rtlCol="0" fromWordArt="0" anchor="t" anchorCtr="0" forceAA="0" compatLnSpc="0">
            <a:normAutofit/>
          </a:bodyPr>
          <a:lstStyle/>
          <a:p>
            <a:pPr marL="114300" indent="0" algn="just">
              <a:lnSpc>
                <a:spcPct val="100000"/>
              </a:lnSpc>
              <a:buNone/>
              <a:defRPr/>
            </a:pPr>
            <a:r>
              <a:rPr lang="en-US" sz="21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Traditional remote-controlled cars rely solely on manual operation and lack automation. Existing robotic systems offering autonomous navigation are often costly and complex for beginners. Hence, there is a need for an affordable </a:t>
            </a:r>
            <a:r>
              <a:rPr lang="en-US" sz="2100" dirty="0" err="1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Arduino</a:t>
            </a:r>
            <a:r>
              <a:rPr lang="en-US" sz="2100" dirty="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-based smart car that integrates IR sensors for line following, ultrasonic sensors for obstacle detection, Bluetooth for manual control, and an ESP32-CAM module for live video surveillance, providing a simple and efficient model for learning and automation.</a:t>
            </a:r>
            <a:endParaRPr sz="2100" dirty="0">
              <a:solidFill>
                <a:srgbClr val="C0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2673841" name="Title 1"/>
          <p:cNvSpPr>
            <a:spLocks noGrp="1"/>
          </p:cNvSpPr>
          <p:nvPr>
            <p:ph type="title"/>
          </p:nvPr>
        </p:nvSpPr>
        <p:spPr bwMode="auto">
          <a:xfrm>
            <a:off x="838200" y="339725"/>
            <a:ext cx="10515600" cy="993775"/>
          </a:xfrm>
        </p:spPr>
        <p:txBody>
          <a:bodyPr/>
          <a:lstStyle/>
          <a:p>
            <a:pPr>
              <a:defRPr/>
            </a:pPr>
            <a:r>
              <a:rPr lang="en-IN" b="1" dirty="0">
                <a:solidFill>
                  <a:srgbClr val="C55A11"/>
                </a:solidFill>
                <a:latin typeface="Times New Roman" panose="02020603050405020304"/>
                <a:cs typeface="Times New Roman" panose="02020603050405020304"/>
              </a:rPr>
              <a:t>Literature Survey</a:t>
            </a:r>
            <a:endParaRPr lang="en-IN" dirty="0"/>
          </a:p>
        </p:txBody>
      </p:sp>
      <p:graphicFrame>
        <p:nvGraphicFramePr>
          <p:cNvPr id="299072572" name="Table 3"/>
          <p:cNvGraphicFramePr>
            <a:graphicFrameLocks noGrp="1"/>
          </p:cNvGraphicFramePr>
          <p:nvPr/>
        </p:nvGraphicFramePr>
        <p:xfrm>
          <a:off x="1003300" y="1485901"/>
          <a:ext cx="10768152" cy="5060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1156"/>
                <a:gridCol w="2787606"/>
                <a:gridCol w="2299775"/>
                <a:gridCol w="2849165"/>
                <a:gridCol w="2110450"/>
              </a:tblGrid>
              <a:tr h="520689"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Sr.No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Title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Author(s)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Publisher</a:t>
                      </a:r>
                      <a:endParaRPr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Findings</a:t>
                      </a:r>
                      <a:endParaRPr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1807096"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1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R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/>
                        <a:buNone/>
                        <a:defRPr/>
                      </a:pPr>
                      <a:r>
                        <a:rPr lang="en-US" sz="1400" b="0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Line-Following Auto cart For Customizable Transportation</a:t>
                      </a:r>
                      <a:endParaRPr lang="en-US"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  <a:defRPr/>
                      </a:pPr>
                      <a:r>
                        <a:rPr lang="fi-FI" sz="1400" b="0" i="0" u="none" strike="noStrike" cap="none" dirty="0" smtClean="0">
                          <a:solidFill>
                            <a:schemeClr val="tx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Jaikaruna S; Anitha T; K. Srinivasani; Iswarya M; Mirrunalini P.S</a:t>
                      </a:r>
                      <a:endParaRPr sz="1400" b="0" i="0" u="none" strike="noStrike" cap="none" dirty="0">
                        <a:solidFill>
                          <a:schemeClr val="tx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IEEE 2025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sz="1400" b="0" i="0" u="none" strike="noStrike" cap="none" dirty="0" smtClean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Developed a low-cost autonomous robot that uses IR sensors for accurate line tracking, showcasing reliable sensor-based automation for practical delivery applications.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1267963"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</a:t>
                      </a:r>
                      <a:endParaRPr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 Prototype of IoT based Remote Controlled Car for </a:t>
                      </a:r>
                      <a:r>
                        <a:rPr lang="en-US" sz="1400" b="0" i="0" u="none" strike="noStrike" cap="none" dirty="0" err="1" smtClean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Pentesting</a:t>
                      </a:r>
                      <a:r>
                        <a:rPr lang="en-US" sz="1400" b="0" i="0" u="none" strike="noStrike" cap="none" dirty="0" smtClean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Wireless Networks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Debajyoti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Mukhopadhyay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;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Sushmita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Karmakar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;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Ankita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Meshram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;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Amita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Jadhav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 smtClean="0">
                          <a:latin typeface="Times New Roman" panose="02020603050405020304"/>
                          <a:cs typeface="Times New Roman" panose="02020603050405020304"/>
                        </a:rPr>
                        <a:t>IEEE</a:t>
                      </a:r>
                      <a:r>
                        <a:rPr lang="en-US" baseline="0" dirty="0" smtClean="0">
                          <a:latin typeface="Times New Roman" panose="02020603050405020304"/>
                          <a:cs typeface="Times New Roman" panose="02020603050405020304"/>
                        </a:rPr>
                        <a:t> 2020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Presented an IoT-enabled car with Bluetooth and Wi-Fi connectivity, enhancing remote control and automation features.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  <a:tr h="1465202"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3</a:t>
                      </a:r>
                      <a:endParaRPr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smtClean="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Design of an Intelligent Active Obstacle Avoidance Car Based on Rotating Ultrasonic Sensors</a:t>
                      </a:r>
                      <a:endParaRPr lang="en-US" sz="1400" b="0" i="0" u="none" strike="noStrike" cap="none" dirty="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Yun Jin;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Shengquan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Li; Juan Li;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Hongbing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Sun; </a:t>
                      </a:r>
                      <a:r>
                        <a:rPr lang="en-US" dirty="0" err="1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Yuanwang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Wu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IEEE</a:t>
                      </a:r>
                      <a:r>
                        <a:rPr lang="en-US" baseline="0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</a:t>
                      </a:r>
                      <a:r>
                        <a:rPr lang="en-US" dirty="0" smtClean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2019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  <a:defRPr/>
                      </a:pPr>
                      <a:r>
                        <a:rPr lang="en-US" dirty="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Showed how ultrasonic sensors can effectively detect and avoid obstacles, improving navigation in constrained environments.</a:t>
                      </a:r>
                      <a:endParaRPr dirty="0">
                        <a:latin typeface="Times New Roman" panose="02020603050405020304"/>
                        <a:cs typeface="Times New Roman" panose="02020603050405020304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3539089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 marL="0" marR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 panose="020F0502020204030204"/>
              <a:buNone/>
              <a:defRPr/>
            </a:pPr>
            <a:r>
              <a:rPr lang="en-US" sz="4400" b="1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Objectives and </a:t>
            </a:r>
            <a:r>
              <a:rPr lang="en-IN" sz="4400" b="1" i="0" u="none" strike="noStrike" cap="none" spc="0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Scope</a:t>
            </a:r>
            <a:br>
              <a:rPr lang="en-US">
                <a:solidFill>
                  <a:schemeClr val="accent2"/>
                </a:solidFill>
              </a:rPr>
            </a:br>
            <a:endParaRPr lang="en-IN"/>
          </a:p>
        </p:txBody>
      </p:sp>
      <p:sp>
        <p:nvSpPr>
          <p:cNvPr id="1025458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084791"/>
            <a:ext cx="10515600" cy="5092171"/>
          </a:xfrm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 fontScale="95000" lnSpcReduction="999"/>
          </a:bodyPr>
          <a:lstStyle/>
          <a:p>
            <a:pPr>
              <a:buClr>
                <a:schemeClr val="dk1"/>
              </a:buClr>
              <a:buSzPts val="1800"/>
              <a:buFont typeface="Wingdings" panose="05000000000000000000"/>
              <a:buChar char="Ø"/>
              <a:defRPr/>
            </a:pPr>
            <a:r>
              <a:rPr sz="2100" b="1" i="0" u="sng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Objectives</a:t>
            </a:r>
            <a:endParaRPr sz="2100" b="0" dirty="0"/>
          </a:p>
          <a:p>
            <a:pPr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develop a car with </a:t>
            </a:r>
            <a:r>
              <a:rPr lang="en-IN"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four </a:t>
            </a: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operating modes:</a:t>
            </a:r>
            <a:endParaRPr sz="2100" b="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2100" b="0" i="0" u="none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Line Following</a:t>
            </a:r>
            <a:endParaRPr sz="2900" b="0" dirty="0" smtClean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2100" b="0" i="0" u="none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Obstacle Avoidance</a:t>
            </a:r>
            <a:endParaRPr sz="2900" b="0" dirty="0" smtClean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2100" b="0" i="0" u="none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Bluetooth Remote Control</a:t>
            </a:r>
            <a:endParaRPr sz="2900" b="0" dirty="0" smtClean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2100" b="0" i="0" u="none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Live Video Surveillance (ESP32-CAM)</a:t>
            </a:r>
            <a:endParaRPr sz="2900" b="0" dirty="0" smtClean="0"/>
          </a:p>
          <a:p>
            <a:pPr>
              <a:defRPr/>
            </a:pPr>
            <a:r>
              <a:rPr sz="2100" b="0" i="0" u="none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integrate Arduino UNO, IR, Ultrasonic, Bluetooth, and ESP32-CAM modules for responsive control and live monitoring.</a:t>
            </a:r>
            <a:endParaRPr sz="2100" b="0" dirty="0" smtClean="0"/>
          </a:p>
          <a:p>
            <a:pPr>
              <a:defRPr/>
            </a:pPr>
            <a:r>
              <a:rPr sz="2100" b="0" i="0" u="none" dirty="0" smtClean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</a:t>
            </a: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design a cost-effective, educational, and expandable robotic platform.</a:t>
            </a:r>
            <a:endParaRPr sz="2100" b="0" dirty="0"/>
          </a:p>
          <a:p>
            <a:pPr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To provide real-time control with low response time and high accuracy.</a:t>
            </a:r>
            <a:endParaRPr sz="2100" b="0" dirty="0"/>
          </a:p>
          <a:p>
            <a:pPr>
              <a:buClr>
                <a:schemeClr val="dk1"/>
              </a:buClr>
              <a:buSzPts val="1800"/>
              <a:buFont typeface="Wingdings" panose="05000000000000000000"/>
              <a:buChar char="Ø"/>
              <a:defRPr/>
            </a:pPr>
            <a:r>
              <a:rPr sz="2100" b="1" i="0" u="sng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Scope</a:t>
            </a:r>
            <a:endParaRPr sz="2100" b="0" dirty="0"/>
          </a:p>
          <a:p>
            <a:pPr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Demonstrates core robotics concepts like automation, sensor integration, and embedded programming.</a:t>
            </a:r>
            <a:endParaRPr sz="2100" b="0" dirty="0"/>
          </a:p>
          <a:p>
            <a:pPr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Can be extended with cloud-based IoT logging, AI-based object detection, or GPS navigation features.</a:t>
            </a:r>
            <a:endParaRPr sz="2100" b="0" dirty="0"/>
          </a:p>
          <a:p>
            <a:pPr>
              <a:defRPr/>
            </a:pP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Useful in learning environments, robotic competitions, and small automation projects.</a:t>
            </a:r>
            <a:endParaRPr sz="2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062474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 b="1" dirty="0" err="1">
                <a:solidFill>
                  <a:schemeClr val="accent2"/>
                </a:solidFill>
                <a:latin typeface="Times New Roman" panose="02020603050405020304"/>
                <a:cs typeface="Times New Roman" panose="02020603050405020304"/>
              </a:rPr>
              <a:t>Applicati</a:t>
            </a:r>
            <a:r>
              <a:rPr lang="en-IN" b="1" dirty="0" err="1">
                <a:solidFill>
                  <a:schemeClr val="accent2"/>
                </a:solidFill>
                <a:latin typeface="Times New Roman" panose="02020603050405020304"/>
                <a:cs typeface="Times New Roman" panose="02020603050405020304"/>
              </a:rPr>
              <a:t>ons</a:t>
            </a:r>
            <a:r>
              <a:rPr lang="en-IN" b="1" dirty="0">
                <a:solidFill>
                  <a:schemeClr val="accent2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br>
              <a:rPr lang="en-US" dirty="0">
                <a:solidFill>
                  <a:schemeClr val="accent2"/>
                </a:solidFill>
              </a:rPr>
            </a:br>
            <a:endParaRPr dirty="0">
              <a:solidFill>
                <a:schemeClr val="accent2"/>
              </a:solidFill>
            </a:endParaRPr>
          </a:p>
        </p:txBody>
      </p:sp>
      <p:sp>
        <p:nvSpPr>
          <p:cNvPr id="716724810" name="Text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 sz="21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Educational Robotics</a:t>
            </a: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Ideal for learning embedded systems and automation.</a:t>
            </a:r>
            <a:endParaRPr sz="2100" dirty="0"/>
          </a:p>
          <a:p>
            <a:pPr>
              <a:defRPr/>
            </a:pPr>
            <a:r>
              <a:rPr sz="21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Surveillance Vehicles</a:t>
            </a: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Can patrol predefined paths or restricted areas.</a:t>
            </a:r>
            <a:endParaRPr sz="2100" dirty="0"/>
          </a:p>
          <a:p>
            <a:pPr>
              <a:defRPr/>
            </a:pPr>
            <a:r>
              <a:rPr sz="21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Delivery Systems</a:t>
            </a: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Autonomous movement in small areas or controlled environments.</a:t>
            </a:r>
            <a:endParaRPr sz="2100" dirty="0"/>
          </a:p>
          <a:p>
            <a:pPr>
              <a:defRPr/>
            </a:pPr>
            <a:r>
              <a:rPr sz="21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IoT Prototypes</a:t>
            </a: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Future integration with Wi-Fi or GPS modules.</a:t>
            </a:r>
            <a:endParaRPr sz="2100" dirty="0"/>
          </a:p>
          <a:p>
            <a:pPr>
              <a:defRPr/>
            </a:pPr>
            <a:r>
              <a:rPr sz="21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Research and Experimentation</a:t>
            </a:r>
            <a:r>
              <a:rPr sz="21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Useful for testing sensors and motor control systems.</a:t>
            </a: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70948"/>
          </a:xfrm>
        </p:spPr>
        <p:txBody>
          <a:bodyPr/>
          <a:lstStyle/>
          <a:p>
            <a:r>
              <a:rPr lang="en-US" b="1" dirty="0" smtClean="0">
                <a:solidFill>
                  <a:schemeClr val="accent2"/>
                </a:solidFill>
                <a:latin typeface="Times New Roman" panose="02020603050405020304"/>
                <a:cs typeface="Times New Roman" panose="02020603050405020304"/>
              </a:rPr>
              <a:t>Algorithm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04374"/>
            <a:ext cx="10515600" cy="504088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 the system and initialize Arduino, sensors, motor driver, and Bluetooth module ,ESP32 CAM Module.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 module live stream the video over the web server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the selected mode (Line Follow / Obstacle Avoidance / Bluetooth).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read IR sensor values for line detection.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Continuously read ultrasonic sensor distance.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Bluetooth mode is active, receive commands (F/B/L/R).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Drive the motors based on the Bluetooth command.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obstacle is detected within the safe distance, stop and reverse slightly.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Turn left or right to avoid the obstacle.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in Line-Follow mode, adjust movement: left sensor → turn left, right sensor → turn right, both → move forward.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updating motor signals and repeat until the mode is changed or stopped.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0381273" name="Google Shape;134;p8"/>
          <p:cNvSpPr txBox="1"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pPr>
            <a:r>
              <a:rPr lang="en-US" dirty="0" smtClean="0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Design / Architecture </a:t>
            </a:r>
            <a:r>
              <a:rPr dirty="0" smtClean="0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Block </a:t>
            </a:r>
            <a:r>
              <a:rPr dirty="0">
                <a:solidFill>
                  <a:schemeClr val="accent2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Diagram</a:t>
            </a:r>
            <a:endParaRPr dirty="0">
              <a:solidFill>
                <a:schemeClr val="accent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64551412" name="Google Shape;135;p8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3" descr="BlockDiagr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9475" y="1627505"/>
            <a:ext cx="7386320" cy="4924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952844" name="Google Shape;127;g16432b3a3c0_0_0"/>
          <p:cNvSpPr txBox="1">
            <a:spLocks noGrp="1"/>
          </p:cNvSpPr>
          <p:nvPr>
            <p:ph type="title"/>
          </p:nvPr>
        </p:nvSpPr>
        <p:spPr bwMode="auto">
          <a:xfrm>
            <a:off x="838200" y="81791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ts val="4400"/>
              <a:buFont typeface="Times New Roman" panose="02020603050405020304"/>
              <a:buNone/>
              <a:defRPr/>
            </a:pPr>
            <a:r>
              <a:rPr lang="en-IN" b="1" dirty="0" smtClean="0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Software / Hardware Requirement</a:t>
            </a:r>
            <a:endParaRPr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324153733" name="Google Shape;128;g16432b3a3c0_0_0"/>
          <p:cNvSpPr txBox="1">
            <a:spLocks noGrp="1"/>
          </p:cNvSpPr>
          <p:nvPr>
            <p:ph type="body" idx="1"/>
          </p:nvPr>
        </p:nvSpPr>
        <p:spPr bwMode="auto">
          <a:xfrm>
            <a:off x="838198" y="1217083"/>
            <a:ext cx="10515600" cy="5212291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3" tIns="45699" rIns="91423" bIns="45699" numCol="1" spcCol="0" rtlCol="0" fromWordArt="0" anchor="t" anchorCtr="0" forceAA="0" compatLnSpc="0">
            <a:normAutofit/>
          </a:bodyPr>
          <a:lstStyle/>
          <a:p>
            <a:pPr>
              <a:buClr>
                <a:schemeClr val="dk1"/>
              </a:buClr>
              <a:buSzPts val="1800"/>
              <a:buFont typeface="Wingdings" panose="05000000000000000000"/>
              <a:buChar char="Ø"/>
              <a:defRPr/>
            </a:pPr>
            <a:r>
              <a:rPr sz="2100" b="1" i="0" u="sng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Hardware Components</a:t>
            </a:r>
            <a:endParaRPr sz="21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Arduino UNO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Central controller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IR Sensors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For line detection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Ultrasonic Sensor (HC-SR04)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For obstacle detection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Bluetooth Module (HC-05)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For wireless control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ESP32-CAM Module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OV2640 camera, Wi-Fi streaming server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L298N Motor Driver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Controls motor direction/speed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DC Motors &amp; Wheels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Vehicle movement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Power Supply (7.4V Li-ion Battery)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System power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Breadboard, Jumpers, LEDs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Circuit connections and indicators</a:t>
            </a:r>
            <a:endParaRPr sz="2100" dirty="0"/>
          </a:p>
          <a:p>
            <a:pPr>
              <a:buClr>
                <a:schemeClr val="dk1"/>
              </a:buClr>
              <a:buSzPts val="1800"/>
              <a:buFont typeface="Wingdings" panose="05000000000000000000"/>
              <a:buChar char="Ø"/>
              <a:defRPr/>
            </a:pPr>
            <a:r>
              <a:rPr sz="2100" b="1" i="0" u="sng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Software Requirements</a:t>
            </a:r>
            <a:endParaRPr sz="21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Arduino IDE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Programming the microcontroller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Bluetooth Controller App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For manual control via mobile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sz="1900" b="1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Embedded C/C++</a:t>
            </a:r>
            <a:r>
              <a:rPr sz="1900" b="0" i="0" u="none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– Coding language for Arduino</a:t>
            </a:r>
            <a:endParaRPr sz="1900" dirty="0"/>
          </a:p>
          <a:p>
            <a:pPr lvl="1">
              <a:buClr>
                <a:schemeClr val="dk1"/>
              </a:buClr>
              <a:buSzPts val="1800"/>
              <a:buFont typeface="Arial" panose="020B0604020202020204"/>
              <a:buChar char="–"/>
              <a:defRPr/>
            </a:pPr>
            <a:r>
              <a:rPr lang="en-US" sz="1900" b="1" i="0" u="none" strike="noStrike" cap="none" spc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Serial Monitor (IDE) </a:t>
            </a:r>
            <a:r>
              <a:rPr lang="en-US" sz="1900" b="0" i="0" u="none" strike="noStrike" cap="none" spc="0" dirty="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– For testing and debugging</a:t>
            </a:r>
            <a:endParaRPr sz="1900" dirty="0"/>
          </a:p>
          <a:p>
            <a:pPr marL="5715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/>
            </a:pPr>
            <a:endParaRPr sz="3200" dirty="0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042089" name="Google Shape;140;p11"/>
          <p:cNvSpPr txBox="1">
            <a:spLocks noGrp="1"/>
          </p:cNvSpPr>
          <p:nvPr>
            <p:ph type="title"/>
          </p:nvPr>
        </p:nvSpPr>
        <p:spPr bwMode="auto">
          <a:xfrm>
            <a:off x="838198" y="244355"/>
            <a:ext cx="10515600" cy="6700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55A11"/>
              </a:buClr>
              <a:buSzPct val="100000"/>
              <a:buFont typeface="Times New Roman" panose="02020603050405020304"/>
              <a:buNone/>
              <a:defRPr/>
            </a:pPr>
            <a:r>
              <a:rPr lang="en-US" b="1">
                <a:solidFill>
                  <a:srgbClr val="C55A1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References</a:t>
            </a:r>
            <a:endParaRPr lang="en-IN" b="1">
              <a:solidFill>
                <a:srgbClr val="C55A1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52498" y="1220644"/>
            <a:ext cx="10693402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Official Documentation, Arduino UNO Board Overview. Available at: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https://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www.arduino.cc/en/Main/ArduinoBoardUno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HC-SR04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Datasheet, Specifications and Operating Principle. Available at: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components101.com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L298N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Motor Driver Module Documentation, H-Bridge Motor Control Guide. Available at: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components101.com/modules/l298n-motor-driver-module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HC-05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Module Datasheet, Pin Configuration and AT Commands. Available at: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</a:t>
            </a: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components101.com/wireless/hc-05-bluetooth-module</a:t>
            </a:r>
            <a:endParaRPr lang="en-US" sz="22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</a:pPr>
            <a:r>
              <a:rPr lang="en-US" sz="22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</a:t>
            </a: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Sensor Module Datasheet, Working Principle and Applications. Available at: https://components101.com/sensors/ir-sensor-module</a:t>
            </a:r>
            <a:endParaRPr kumimoji="0" lang="en-US" sz="2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spcBef>
                <a:spcPts val="600"/>
              </a:spcBef>
              <a:buFont typeface="+mj-lt"/>
              <a:buAutoNum type="arabicPeriod" startAt="6"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ESP32-CAM Module Documentation, OV2640 Camera and Wi-Fi Streaming. Available at: https://docs.espressif.com/projects/esp-idf/en/latest/esp32/</a:t>
            </a:r>
            <a:endParaRPr kumimoji="0"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946411" name="Google Shape;146;p12"/>
          <p:cNvSpPr txBox="1"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/>
            </a:p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/>
            </a:pPr>
            <a:r>
              <a:rPr lang="en-IN" sz="66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Thank You!!</a:t>
            </a:r>
            <a:endParaRPr lang="en-IN" sz="660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/>
            </a:pPr>
            <a:r>
              <a:rPr lang="en-IN" sz="6600"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Any questions</a:t>
            </a:r>
            <a:r>
              <a:rPr lang="en-IN" sz="6600">
                <a:solidFill>
                  <a:srgbClr val="548135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.</a:t>
            </a:r>
            <a:endParaRPr lang="en-IN" sz="6600">
              <a:solidFill>
                <a:srgbClr val="548135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5900</Words>
  <Application>WPS Presentation</Application>
  <PresentationFormat>Widescreen</PresentationFormat>
  <Paragraphs>155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SimSun</vt:lpstr>
      <vt:lpstr>Wingdings</vt:lpstr>
      <vt:lpstr>Arial</vt:lpstr>
      <vt:lpstr>Calibri</vt:lpstr>
      <vt:lpstr>Times New Roman</vt:lpstr>
      <vt:lpstr>Wingdings</vt:lpstr>
      <vt:lpstr>Times New Roman</vt:lpstr>
      <vt:lpstr>Microsoft YaHei</vt:lpstr>
      <vt:lpstr>Arial Unicode MS</vt:lpstr>
      <vt:lpstr>Office Theme</vt:lpstr>
      <vt:lpstr>PowerPoint 演示文稿</vt:lpstr>
      <vt:lpstr>Index</vt:lpstr>
      <vt:lpstr>Introduction</vt:lpstr>
      <vt:lpstr>Problem statement</vt:lpstr>
      <vt:lpstr>Literature Survey</vt:lpstr>
      <vt:lpstr>Objectives and Scope </vt:lpstr>
      <vt:lpstr>Applications  </vt:lpstr>
      <vt:lpstr>Algorithm</vt:lpstr>
      <vt:lpstr>Design / Architecture Block Diagram</vt:lpstr>
      <vt:lpstr>Software / Hardware Requirement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Jitesh Jha</dc:creator>
  <cp:lastModifiedBy>Prem Dnyaneshwar Hage</cp:lastModifiedBy>
  <cp:revision>38</cp:revision>
  <dcterms:created xsi:type="dcterms:W3CDTF">2019-11-12T13:11:00Z</dcterms:created>
  <dcterms:modified xsi:type="dcterms:W3CDTF">2026-05-25T05:18:27Z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8413EE361B7F4E938D0F9292287FF6E7_13</vt:lpwstr>
  </property>
  <property fmtid="{D5CDD505-2E9C-101B-9397-08002B2CF9AE}" pid="3" name="KSOProductBuildVer">
    <vt:lpwstr>2057-12.2.0.23202</vt:lpwstr>
  </property>
</Properties>
</file>